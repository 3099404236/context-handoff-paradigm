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f7eaa5e8f4aa2" /><Relationship Type="http://schemas.openxmlformats.org/officeDocument/2006/relationships/extended-properties" Target="/docProps/app.xml" Id="Rdd5e8c27bd4149d7" /><Relationship Type="http://schemas.openxmlformats.org/officeDocument/2006/relationships/officeDocument" Target="/ppt/presentation.xml" Id="Re69dd275780442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b281bea3d44df"/>
  </p:sldMasterIdLst>
  <p:notesMasterIdLst>
    <p:notesMasterId xmlns:r="http://schemas.openxmlformats.org/officeDocument/2006/relationships" r:id="Rc6adecfa5e9c4d17"/>
  </p:notesMasterIdLst>
  <p:sldIdLst>
    <p:sldId xmlns:r="http://schemas.openxmlformats.org/officeDocument/2006/relationships" id="256" r:id="R7b33470b2c4741bb"/>
    <p:sldId xmlns:r="http://schemas.openxmlformats.org/officeDocument/2006/relationships" id="257" r:id="R5c3c5c7bcfc143bc"/>
    <p:sldId xmlns:r="http://schemas.openxmlformats.org/officeDocument/2006/relationships" id="258" r:id="Rddfbafad33d34e32"/>
    <p:sldId xmlns:r="http://schemas.openxmlformats.org/officeDocument/2006/relationships" id="259" r:id="R28ace4795291433c"/>
    <p:sldId xmlns:r="http://schemas.openxmlformats.org/officeDocument/2006/relationships" id="260" r:id="Rbcfdbf810fd346e2"/>
    <p:sldId xmlns:r="http://schemas.openxmlformats.org/officeDocument/2006/relationships" id="261" r:id="R8af25239edf74b5b"/>
    <p:sldId xmlns:r="http://schemas.openxmlformats.org/officeDocument/2006/relationships" id="262" r:id="Rfe7cb8fb1443493d"/>
    <p:sldId xmlns:r="http://schemas.openxmlformats.org/officeDocument/2006/relationships" id="263" r:id="R31563ab76dbb43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901ff788841c4" /><Relationship Type="http://schemas.openxmlformats.org/officeDocument/2006/relationships/slideMaster" Target="/ppt/slideMasters/slideMaster1.xml" Id="Rfc0b281bea3d44df" /><Relationship Type="http://schemas.openxmlformats.org/officeDocument/2006/relationships/notesMaster" Target="/ppt/notesMasters/notesMaster1.xml" Id="Rc6adecfa5e9c4d17" /><Relationship Type="http://schemas.openxmlformats.org/officeDocument/2006/relationships/presProps" Target="/ppt/presProps.xml" Id="R10dbd455de844a16" /><Relationship Type="http://schemas.openxmlformats.org/officeDocument/2006/relationships/tableStyles" Target="/ppt/tableStyles.xml" Id="Rb864f1a9bf4b48c5" /><Relationship Type="http://schemas.openxmlformats.org/officeDocument/2006/relationships/slide" Target="/ppt/slides/slide1.xml" Id="R7b33470b2c4741bb" /><Relationship Type="http://schemas.openxmlformats.org/officeDocument/2006/relationships/slide" Target="/ppt/slides/slide2.xml" Id="R5c3c5c7bcfc143bc" /><Relationship Type="http://schemas.openxmlformats.org/officeDocument/2006/relationships/slide" Target="/ppt/slides/slide3.xml" Id="Rddfbafad33d34e32" /><Relationship Type="http://schemas.openxmlformats.org/officeDocument/2006/relationships/slide" Target="/ppt/slides/slide4.xml" Id="R28ace4795291433c" /><Relationship Type="http://schemas.openxmlformats.org/officeDocument/2006/relationships/slide" Target="/ppt/slides/slide5.xml" Id="Rbcfdbf810fd346e2" /><Relationship Type="http://schemas.openxmlformats.org/officeDocument/2006/relationships/slide" Target="/ppt/slides/slide6.xml" Id="R8af25239edf74b5b" /><Relationship Type="http://schemas.openxmlformats.org/officeDocument/2006/relationships/slide" Target="/ppt/slides/slide7.xml" Id="Rfe7cb8fb1443493d" /><Relationship Type="http://schemas.openxmlformats.org/officeDocument/2006/relationships/slide" Target="/ppt/slides/slide8.xml" Id="R31563ab76dbb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db611ea7f4f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8cf35660940b7" /><Relationship Type="http://schemas.openxmlformats.org/officeDocument/2006/relationships/notesMaster" Target="/ppt/notesMasters/notesMaster1.xml" Id="Rda5f57fb501d48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af412224bb40f4" /><Relationship Type="http://schemas.openxmlformats.org/officeDocument/2006/relationships/notesMaster" Target="/ppt/notesMasters/notesMaster1.xml" Id="R47451977018c40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5b9b2a843645f1" /><Relationship Type="http://schemas.openxmlformats.org/officeDocument/2006/relationships/notesMaster" Target="/ppt/notesMasters/notesMaster1.xml" Id="R56c6ad94afeb48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2d2f7475d49ef" /><Relationship Type="http://schemas.openxmlformats.org/officeDocument/2006/relationships/notesMaster" Target="/ppt/notesMasters/notesMaster1.xml" Id="R821e4ea3351d41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edfc092ae408f" /><Relationship Type="http://schemas.openxmlformats.org/officeDocument/2006/relationships/notesMaster" Target="/ppt/notesMasters/notesMaster1.xml" Id="R505fb914caae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5c6751f134519" /><Relationship Type="http://schemas.openxmlformats.org/officeDocument/2006/relationships/notesMaster" Target="/ppt/notesMasters/notesMaster1.xml" Id="Rcc6228dea31942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40126063ba4f35" /><Relationship Type="http://schemas.openxmlformats.org/officeDocument/2006/relationships/notesMaster" Target="/ppt/notesMasters/notesMaster1.xml" Id="R41ac34f745b448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7baeaae0e44de3" /><Relationship Type="http://schemas.openxmlformats.org/officeDocument/2006/relationships/notesMaster" Target="/ppt/notesMasters/notesMaster1.xml" Id="R22ace10ccc2849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9034b3b31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b2532692048b5" /><Relationship Type="http://schemas.openxmlformats.org/officeDocument/2006/relationships/slideLayout" Target="/ppt/slideLayouts/slideLayout1.xml" Id="Rbdf9f325e55d46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9f325e55d46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bac1a167f4c55" /><Relationship Type="http://schemas.openxmlformats.org/officeDocument/2006/relationships/image" Target="/ppt/media/image.png" Id="R5382f385f2ae428c" /><Relationship Type="http://schemas.openxmlformats.org/officeDocument/2006/relationships/notesSlide" Target="/ppt/notesSlides/notesSlide1.xml" Id="R2b817b0797ad49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12836345f4ebc" /><Relationship Type="http://schemas.openxmlformats.org/officeDocument/2006/relationships/chart" Target="/ppt/slides/charts/chart1.xml" Id="Ra577aa707bd349a8" /><Relationship Type="http://schemas.openxmlformats.org/officeDocument/2006/relationships/chart" Target="/ppt/slides/charts/chart2.xml" Id="R20bc482202684adb" /><Relationship Type="http://schemas.openxmlformats.org/officeDocument/2006/relationships/notesSlide" Target="/ppt/notesSlides/notesSlide2.xml" Id="R3d95ea3f2673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d508506ec4a8b" /><Relationship Type="http://schemas.openxmlformats.org/officeDocument/2006/relationships/notesSlide" Target="/ppt/notesSlides/notesSlide3.xml" Id="R72a17060d11a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c2fdaac6a45ba" /><Relationship Type="http://schemas.openxmlformats.org/officeDocument/2006/relationships/notesSlide" Target="/ppt/notesSlides/notesSlide4.xml" Id="Rd5921a77b707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dcdb696414edd" /><Relationship Type="http://schemas.openxmlformats.org/officeDocument/2006/relationships/notesSlide" Target="/ppt/notesSlides/notesSlide5.xml" Id="R3ad5785db7d1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93b8525904b12" /><Relationship Type="http://schemas.openxmlformats.org/officeDocument/2006/relationships/image" Target="/ppt/media/image2.png" Id="Ra27a7d4435d64997" /><Relationship Type="http://schemas.openxmlformats.org/officeDocument/2006/relationships/notesSlide" Target="/ppt/notesSlides/notesSlide6.xml" Id="R2facef840ce5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b37456d384f1b" /><Relationship Type="http://schemas.openxmlformats.org/officeDocument/2006/relationships/image" Target="/ppt/media/image3.png" Id="Ref122d7c000045c1" /><Relationship Type="http://schemas.openxmlformats.org/officeDocument/2006/relationships/notesSlide" Target="/ppt/notesSlides/notesSlide7.xml" Id="Rbdacfab756b549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09dcc211a4e4b" /><Relationship Type="http://schemas.openxmlformats.org/officeDocument/2006/relationships/image" Target="/ppt/media/image4.png" Id="R32d16d7471e94205" /><Relationship Type="http://schemas.openxmlformats.org/officeDocument/2006/relationships/notesSlide" Target="/ppt/notesSlides/notesSlide8.xml" Id="R7414b97622d94e0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8131F"/>
                </a:solidFill>
              </a:rPr>
              <a:t>全球市场规模（亿美元）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8131F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规模</c:v>
          </c:tx>
          <c:spPr>
            <a:solidFill xmlns:a="http://schemas.openxmlformats.org/drawingml/2006/main">
              <a:srgbClr val="2874D0"/>
            </a:solidFill>
          </c:spPr>
          <c:cat>
            <c:strLit>
              <c:ptCount val="2"/>
              <c:pt idx="0">
                <c:v>2023</c:v>
              </c:pt>
              <c:pt idx="1">
                <c:v>2030E</c:v>
              </c:pt>
            </c:strLit>
          </c:cat>
          <c:val>
            <c:numLit>
              <c:formatCode>#,##0</c:formatCode>
              <c:ptCount val="2"/>
              <c:pt idx="0">
                <c:v>568</c:v>
              </c:pt>
              <c:pt idx="1">
                <c:v>3231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81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68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8131F"/>
                </a:solidFill>
              </a:rPr>
              <a:t>中国市场规模（亿元）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8131F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规模</c:v>
          </c:tx>
          <c:spPr>
            <a:solidFill xmlns:a="http://schemas.openxmlformats.org/drawingml/2006/main">
              <a:srgbClr val="16B9C4"/>
            </a:solidFill>
          </c:spPr>
          <c:cat>
            <c:strLit>
              <c:ptCount val="2"/>
              <c:pt idx="0">
                <c:v>2024</c:v>
              </c:pt>
              <c:pt idx="1">
                <c:v>2028E</c:v>
              </c:pt>
            </c:strLit>
          </c:cat>
          <c:val>
            <c:numLit>
              <c:formatCode>#,##0</c:formatCode>
              <c:ptCount val="2"/>
              <c:pt idx="0">
                <c:v>1447</c:v>
              </c:pt>
              <c:pt idx="1">
                <c:v>3931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813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684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2f385f2ae42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A70EF3BB-9596-4BFE-ACAC-457C7713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2DE3630-63DC-41C0-82D2-E8C05FD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CFD1F4A-410C-41A7-8857-A175AB19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行业量化研究 · 8 页重构样稿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554D94B-08BF-43B4-B1FA-C3686C1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0006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AI 芯片算力行业的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交易策略分析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DB7CC65-1C0C-43FE-A525-613FC046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多因子选股模型构建与回测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3CC64CC9-09AE-4373-9154-2F23DE1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8C5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C5CF"/>
                </a:solidFill>
                <a:latin typeface="Microsoft YaHei"/>
                <a:ea typeface="Microsoft YaHei"/>
                <a:cs typeface="Microsoft YaHei"/>
              </a:rPr>
              <a:t>15 只股票 · 21→10 个因子 · 2025.01—2026.03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80316684-1FBD-4CFE-8B4F-89423FAD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4"/>
            </a:solidFill>
            <a:prstDash val="solid"/>
          </a:ln>
        </p:spPr>
      </p:sp>
      <p:sp>
        <p:nvSpPr>
          <p:cNvPr id="9" name="cover-label-1">
            <a:extLst xmlns:a="http://schemas.openxmlformats.org/drawingml/2006/main">
              <a:ext uri="{FF2B5EF4-FFF2-40B4-BE49-F238E27FC236}">
                <a16:creationId xmlns:a16="http://schemas.microsoft.com/office/drawing/2014/main" id="{A02A735E-7DEE-40C9-9718-BF140B8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rPr>
              <a:t>策略年化</a:t>
            </a:r>
          </a:p>
        </p:txBody>
      </p:sp>
      <p:sp>
        <p:nvSpPr>
          <p:cNvPr id="10" name="cover-value-1">
            <a:extLst xmlns:a="http://schemas.openxmlformats.org/drawingml/2006/main">
              <a:ext uri="{FF2B5EF4-FFF2-40B4-BE49-F238E27FC236}">
                <a16:creationId xmlns:a16="http://schemas.microsoft.com/office/drawing/2014/main" id="{D01AF886-2C08-40FF-BD0B-9C80E80E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96.7%</a:t>
            </a:r>
          </a:p>
        </p:txBody>
      </p:sp>
      <p:sp>
        <p:nvSpPr>
          <p:cNvPr id="11" name="cover-label-2">
            <a:extLst xmlns:a="http://schemas.openxmlformats.org/drawingml/2006/main">
              <a:ext uri="{FF2B5EF4-FFF2-40B4-BE49-F238E27FC236}">
                <a16:creationId xmlns:a16="http://schemas.microsoft.com/office/drawing/2014/main" id="{359EB430-0325-4B48-9150-ECE35BC1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rPr>
              <a:t>行业内 Alpha</a:t>
            </a:r>
          </a:p>
        </p:txBody>
      </p:sp>
      <p:sp>
        <p:nvSpPr>
          <p:cNvPr id="12" name="cover-value-2">
            <a:extLst xmlns:a="http://schemas.openxmlformats.org/drawingml/2006/main">
              <a:ext uri="{FF2B5EF4-FFF2-40B4-BE49-F238E27FC236}">
                <a16:creationId xmlns:a16="http://schemas.microsoft.com/office/drawing/2014/main" id="{734D2625-8F92-4902-BB86-A59988F7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10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+42.7%</a:t>
            </a:r>
          </a:p>
        </p:txBody>
      </p:sp>
      <p:sp>
        <p:nvSpPr>
          <p:cNvPr id="13" name="cover-label-3">
            <a:extLst xmlns:a="http://schemas.openxmlformats.org/drawingml/2006/main">
              <a:ext uri="{FF2B5EF4-FFF2-40B4-BE49-F238E27FC236}">
                <a16:creationId xmlns:a16="http://schemas.microsoft.com/office/drawing/2014/main" id="{F788AA23-2B70-4A25-B967-96D60613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43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14" name="cover-value-3">
            <a:extLst xmlns:a="http://schemas.openxmlformats.org/drawingml/2006/main">
              <a:ext uri="{FF2B5EF4-FFF2-40B4-BE49-F238E27FC236}">
                <a16:creationId xmlns:a16="http://schemas.microsoft.com/office/drawing/2014/main" id="{F966178F-1268-4CFD-B00A-396C971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8102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rPr>
              <a:t>12.5%</a:t>
            </a:r>
          </a:p>
        </p:txBody>
      </p:sp>
    </p:spTree>
    <p:extLst>
      <p:ext uri="{BB962C8B-B14F-4D97-AF65-F5344CB8AC3E}">
        <p14:creationId xmlns:p14="http://schemas.microsoft.com/office/powerpoint/2010/main" val="240671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2">
            <a:extLst xmlns:a="http://schemas.openxmlformats.org/drawingml/2006/main">
              <a:ext uri="{FF2B5EF4-FFF2-40B4-BE49-F238E27FC236}">
                <a16:creationId xmlns:a16="http://schemas.microsoft.com/office/drawing/2014/main" id="{7E083701-EF86-46E0-89E3-B7BAE440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A2C4E5B-CD2A-408F-833C-BF52876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01  市场背景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E35850CB-E738-4A0C-8C90-83B05479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市场在扩张，但投资回报取决于结构性轮动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E5225E2C-066F-47EA-8C93-922ACAA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全球和中国市场都在高速增长，真正可交易的是产业链内部的分化。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5E077DF-2B4F-46EB-80AE-41A39AFB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364A1884-2173-4552-8310-CB433914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1F93A20F-ADBA-41A4-B739-7628CC0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2238375"/>
          <a:ext xmlns:a="http://schemas.openxmlformats.org/drawingml/2006/main" cx="3333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77aa707bd349a8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286250" y="2238375"/>
          <a:ext xmlns:a="http://schemas.openxmlformats.org/drawingml/2006/main" cx="3333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bc482202684adb"/>
          </a:graphicData>
        </a:graphic>
      </p:graphicFrame>
      <p:sp>
        <p:nvSpPr>
          <p:cNvPr id="10" name="market-callout">
            <a:extLst xmlns:a="http://schemas.openxmlformats.org/drawingml/2006/main">
              <a:ext uri="{FF2B5EF4-FFF2-40B4-BE49-F238E27FC236}">
                <a16:creationId xmlns:a16="http://schemas.microsoft.com/office/drawing/2014/main" id="{F802F800-86CB-47F5-97EF-394EF1B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33750" cy="338137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rket-cagr-label">
            <a:extLst xmlns:a="http://schemas.openxmlformats.org/drawingml/2006/main">
              <a:ext uri="{FF2B5EF4-FFF2-40B4-BE49-F238E27FC236}">
                <a16:creationId xmlns:a16="http://schemas.microsoft.com/office/drawing/2014/main" id="{FEF11DA1-D129-4F7C-A2B3-1DDFC1D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9BB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BC8"/>
                </a:solidFill>
                <a:latin typeface="Microsoft YaHei"/>
                <a:ea typeface="Microsoft YaHei"/>
                <a:cs typeface="Microsoft YaHei"/>
              </a:rPr>
              <a:t>中国市场 CAGR</a:t>
            </a:r>
          </a:p>
        </p:txBody>
      </p:sp>
      <p:sp>
        <p:nvSpPr>
          <p:cNvPr id="12" name="market-cagr">
            <a:extLst xmlns:a="http://schemas.openxmlformats.org/drawingml/2006/main">
              <a:ext uri="{FF2B5EF4-FFF2-40B4-BE49-F238E27FC236}">
                <a16:creationId xmlns:a16="http://schemas.microsoft.com/office/drawing/2014/main" id="{62CBCF68-35B9-49FD-BF29-3297FE3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44.7%</a:t>
            </a:r>
          </a:p>
        </p:txBody>
      </p:sp>
      <p:sp>
        <p:nvSpPr>
          <p:cNvPr id="13" name="market-global">
            <a:extLst xmlns:a="http://schemas.openxmlformats.org/drawingml/2006/main">
              <a:ext uri="{FF2B5EF4-FFF2-40B4-BE49-F238E27FC236}">
                <a16:creationId xmlns:a16="http://schemas.microsoft.com/office/drawing/2014/main" id="{84414F8B-BB9B-4C49-A99E-14DC526B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全球 CAGR  28.9%</a:t>
            </a:r>
          </a:p>
        </p:txBody>
      </p:sp>
      <p:sp>
        <p:nvSpPr>
          <p:cNvPr id="14" name="market-callout-line">
            <a:extLst xmlns:a="http://schemas.openxmlformats.org/drawingml/2006/main">
              <a:ext uri="{FF2B5EF4-FFF2-40B4-BE49-F238E27FC236}">
                <a16:creationId xmlns:a16="http://schemas.microsoft.com/office/drawing/2014/main" id="{092D9A37-689B-4098-8437-4021CA7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52925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269"/>
            </a:solidFill>
            <a:prstDash val="solid"/>
          </a:ln>
        </p:spPr>
      </p:sp>
      <p:sp>
        <p:nvSpPr>
          <p:cNvPr id="15" name="market-share">
            <a:extLst xmlns:a="http://schemas.openxmlformats.org/drawingml/2006/main">
              <a:ext uri="{FF2B5EF4-FFF2-40B4-BE49-F238E27FC236}">
                <a16:creationId xmlns:a16="http://schemas.microsoft.com/office/drawing/2014/main" id="{E72A9233-6B6B-4459-BDAE-C644F569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2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7D2DA"/>
                </a:solidFill>
                <a:latin typeface="Microsoft YaHei"/>
                <a:ea typeface="Microsoft YaHei"/>
                <a:cs typeface="Microsoft YaHei"/>
              </a:rPr>
              <a:t>2024 年 NVIDIA 在 AI 加速器市场的份额约 87%。高景气叠加高集中度，意味着机会和拥挤交易会同时放大。</a:t>
            </a:r>
          </a:p>
        </p:txBody>
      </p:sp>
      <p:sp>
        <p:nvSpPr>
          <p:cNvPr id="16" name="market-source">
            <a:extLst xmlns:a="http://schemas.openxmlformats.org/drawingml/2006/main">
              <a:ext uri="{FF2B5EF4-FFF2-40B4-BE49-F238E27FC236}">
                <a16:creationId xmlns:a16="http://schemas.microsoft.com/office/drawing/2014/main" id="{CF782EC1-A829-47C3-9721-F7B7181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数据来源：Grand View Research、IDC、前瞻产业研究院；份额为原报告引用口径。</a:t>
            </a:r>
          </a:p>
        </p:txBody>
      </p:sp>
    </p:spTree>
    <p:extLst>
      <p:ext uri="{BB962C8B-B14F-4D97-AF65-F5344CB8AC3E}">
        <p14:creationId xmlns:p14="http://schemas.microsoft.com/office/powerpoint/2010/main" val="1243636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3">
            <a:extLst xmlns:a="http://schemas.openxmlformats.org/drawingml/2006/main">
              <a:ext uri="{FF2B5EF4-FFF2-40B4-BE49-F238E27FC236}">
                <a16:creationId xmlns:a16="http://schemas.microsoft.com/office/drawing/2014/main" id="{402C766C-FB6B-4D96-8731-D2C602E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4FAB131C-4556-406F-ACA8-A4243919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02  股票池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4AF3561-15C6-421B-959A-C004E03B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股票池覆盖全产业链，而不是只押注 GPU 设计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64398BA8-BC23-4B94-A770-1881D63D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15 只样本股分布在 8 个细分方向，组合的机会来自上下游轮动。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E99BDB0-27C0-49E5-87B5-FD724CEE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41CEE344-7A23-470C-B34C-8CF6A190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C5648D24-BCA8-4FCF-A96E-780D53AF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sp>
        <p:nvSpPr>
          <p:cNvPr id="8" name="chain-node-0">
            <a:extLst xmlns:a="http://schemas.openxmlformats.org/drawingml/2006/main">
              <a:ext uri="{FF2B5EF4-FFF2-40B4-BE49-F238E27FC236}">
                <a16:creationId xmlns:a16="http://schemas.microsoft.com/office/drawing/2014/main" id="{A3CDBAC2-FECE-47FB-9D90-E595C491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in-title-0">
            <a:extLst xmlns:a="http://schemas.openxmlformats.org/drawingml/2006/main">
              <a:ext uri="{FF2B5EF4-FFF2-40B4-BE49-F238E27FC236}">
                <a16:creationId xmlns:a16="http://schemas.microsoft.com/office/drawing/2014/main" id="{B036887D-7813-41CE-B731-C08A46E7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 / 材料</a:t>
            </a:r>
          </a:p>
        </p:txBody>
      </p:sp>
      <p:sp>
        <p:nvSpPr>
          <p:cNvPr id="10" name="chain-body-0">
            <a:extLst xmlns:a="http://schemas.openxmlformats.org/drawingml/2006/main">
              <a:ext uri="{FF2B5EF4-FFF2-40B4-BE49-F238E27FC236}">
                <a16:creationId xmlns:a16="http://schemas.microsoft.com/office/drawing/2014/main" id="{E6B46542-4605-48B2-BA46-9CE7A2C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中微公司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中芯国际</a:t>
            </a:r>
          </a:p>
        </p:txBody>
      </p:sp>
      <p:sp>
        <p:nvSpPr>
          <p:cNvPr id="11" name="chain-node-1">
            <a:extLst xmlns:a="http://schemas.openxmlformats.org/drawingml/2006/main">
              <a:ext uri="{FF2B5EF4-FFF2-40B4-BE49-F238E27FC236}">
                <a16:creationId xmlns:a16="http://schemas.microsoft.com/office/drawing/2014/main" id="{8DBD5B7D-FDA9-44E5-8E23-891B69C0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in-title-1">
            <a:extLst xmlns:a="http://schemas.openxmlformats.org/drawingml/2006/main">
              <a:ext uri="{FF2B5EF4-FFF2-40B4-BE49-F238E27FC236}">
                <a16:creationId xmlns:a16="http://schemas.microsoft.com/office/drawing/2014/main" id="{3B5D603B-1E54-430B-BD24-2EEACD29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IP / 接口</a:t>
            </a:r>
          </a:p>
        </p:txBody>
      </p:sp>
      <p:sp>
        <p:nvSpPr>
          <p:cNvPr id="13" name="chain-body-1">
            <a:extLst xmlns:a="http://schemas.openxmlformats.org/drawingml/2006/main">
              <a:ext uri="{FF2B5EF4-FFF2-40B4-BE49-F238E27FC236}">
                <a16:creationId xmlns:a16="http://schemas.microsoft.com/office/drawing/2014/main" id="{915EA02E-EFB6-48AE-905C-FFBDE29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芯原股份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澜起科技</a:t>
            </a:r>
          </a:p>
        </p:txBody>
      </p:sp>
      <p:sp>
        <p:nvSpPr>
          <p:cNvPr id="14" name="chain-node-2">
            <a:extLst xmlns:a="http://schemas.openxmlformats.org/drawingml/2006/main">
              <a:ext uri="{FF2B5EF4-FFF2-40B4-BE49-F238E27FC236}">
                <a16:creationId xmlns:a16="http://schemas.microsoft.com/office/drawing/2014/main" id="{21C2698B-87E8-4920-89D2-08422374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3362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87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in-title-2">
            <a:extLst xmlns:a="http://schemas.openxmlformats.org/drawingml/2006/main">
              <a:ext uri="{FF2B5EF4-FFF2-40B4-BE49-F238E27FC236}">
                <a16:creationId xmlns:a16="http://schemas.microsoft.com/office/drawing/2014/main" id="{358C11C1-0E1B-4D84-8942-4AF0DF9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 / 封装</a:t>
            </a:r>
          </a:p>
        </p:txBody>
      </p:sp>
      <p:sp>
        <p:nvSpPr>
          <p:cNvPr id="16" name="chain-body-2">
            <a:extLst xmlns:a="http://schemas.openxmlformats.org/drawingml/2006/main">
              <a:ext uri="{FF2B5EF4-FFF2-40B4-BE49-F238E27FC236}">
                <a16:creationId xmlns:a16="http://schemas.microsoft.com/office/drawing/2014/main" id="{7B277394-626E-4AD4-B5EB-1B06F92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992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寒武纪 · 景嘉微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紫光国微 · 长电科技</a:t>
            </a:r>
          </a:p>
        </p:txBody>
      </p:sp>
      <p:sp>
        <p:nvSpPr>
          <p:cNvPr id="17" name="chain-node-3">
            <a:extLst xmlns:a="http://schemas.openxmlformats.org/drawingml/2006/main">
              <a:ext uri="{FF2B5EF4-FFF2-40B4-BE49-F238E27FC236}">
                <a16:creationId xmlns:a16="http://schemas.microsoft.com/office/drawing/2014/main" id="{1B729A16-B8CF-4B26-981B-E623DA8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6B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title-3">
            <a:extLst xmlns:a="http://schemas.openxmlformats.org/drawingml/2006/main">
              <a:ext uri="{FF2B5EF4-FFF2-40B4-BE49-F238E27FC236}">
                <a16:creationId xmlns:a16="http://schemas.microsoft.com/office/drawing/2014/main" id="{9BD139CC-8D6E-4D17-A906-5C0DD41C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服务器 / 互联</a:t>
            </a:r>
          </a:p>
        </p:txBody>
      </p:sp>
      <p:sp>
        <p:nvSpPr>
          <p:cNvPr id="19" name="chain-body-3">
            <a:extLst xmlns:a="http://schemas.openxmlformats.org/drawingml/2006/main">
              <a:ext uri="{FF2B5EF4-FFF2-40B4-BE49-F238E27FC236}">
                <a16:creationId xmlns:a16="http://schemas.microsoft.com/office/drawing/2014/main" id="{CFA71AA4-644E-49D9-AED8-6C1CDB9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992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中科曙光 · 浪潮信息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光迅科技 · 中际旭创</a:t>
            </a:r>
          </a:p>
        </p:txBody>
      </p:sp>
      <p:sp>
        <p:nvSpPr>
          <p:cNvPr id="20" name="chain-node-4">
            <a:extLst xmlns:a="http://schemas.openxmlformats.org/drawingml/2006/main">
              <a:ext uri="{FF2B5EF4-FFF2-40B4-BE49-F238E27FC236}">
                <a16:creationId xmlns:a16="http://schemas.microsoft.com/office/drawing/2014/main" id="{D0A35227-D386-4FFA-9A6C-F59DCEB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9A1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in-title-4">
            <a:extLst xmlns:a="http://schemas.openxmlformats.org/drawingml/2006/main">
              <a:ext uri="{FF2B5EF4-FFF2-40B4-BE49-F238E27FC236}">
                <a16:creationId xmlns:a16="http://schemas.microsoft.com/office/drawing/2014/main" id="{D8643F4A-24C2-45AD-897F-C11F34C5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应用 / 存储</a:t>
            </a:r>
          </a:p>
        </p:txBody>
      </p:sp>
      <p:sp>
        <p:nvSpPr>
          <p:cNvPr id="22" name="chain-body-4">
            <a:extLst xmlns:a="http://schemas.openxmlformats.org/drawingml/2006/main">
              <a:ext uri="{FF2B5EF4-FFF2-40B4-BE49-F238E27FC236}">
                <a16:creationId xmlns:a16="http://schemas.microsoft.com/office/drawing/2014/main" id="{CE23DC16-7A60-4E84-B8F1-FD99B24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9925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科大讯飞 · 中科创达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兆易创新</a:t>
            </a:r>
          </a:p>
        </p:txBody>
      </p: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3238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AC7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67250" y="3238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AC7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58000" y="3238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AC7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48750" y="3238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AC7"/>
            </a:solidFill>
            <a:prstDash val="solid"/>
            <a:tailEnd type="arrow" w="sm" len="sm"/>
          </a:ln>
        </p:spPr>
      </p:cxnSp>
      <p:sp>
        <p:nvSpPr>
          <p:cNvPr id="27" name="pool-takeaway">
            <a:extLst xmlns:a="http://schemas.openxmlformats.org/drawingml/2006/main">
              <a:ext uri="{FF2B5EF4-FFF2-40B4-BE49-F238E27FC236}">
                <a16:creationId xmlns:a16="http://schemas.microsoft.com/office/drawing/2014/main" id="{82F63546-B391-4F35-BF4E-11772EF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ool-takeaway-title">
            <a:extLst xmlns:a="http://schemas.openxmlformats.org/drawingml/2006/main">
              <a:ext uri="{FF2B5EF4-FFF2-40B4-BE49-F238E27FC236}">
                <a16:creationId xmlns:a16="http://schemas.microsoft.com/office/drawing/2014/main" id="{50BF7247-1F17-40A9-BD42-A44C9238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选股逻辑</a:t>
            </a:r>
          </a:p>
        </p:txBody>
      </p:sp>
      <p:sp>
        <p:nvSpPr>
          <p:cNvPr id="29" name="pool-takeaway-body">
            <a:extLst xmlns:a="http://schemas.openxmlformats.org/drawingml/2006/main">
              <a:ext uri="{FF2B5EF4-FFF2-40B4-BE49-F238E27FC236}">
                <a16:creationId xmlns:a16="http://schemas.microsoft.com/office/drawing/2014/main" id="{8FF9AD45-7FBE-4120-8714-E9659592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沿着“设备材料 → 设计封装 → 服务器互联 → 应用落地”组织样本股，避免把主题投资误写成单一芯片设计押注。</a:t>
            </a:r>
          </a:p>
        </p:txBody>
      </p:sp>
      <p:sp>
        <p:nvSpPr>
          <p:cNvPr id="30" name="pool-note">
            <a:extLst xmlns:a="http://schemas.openxmlformats.org/drawingml/2006/main">
              <a:ext uri="{FF2B5EF4-FFF2-40B4-BE49-F238E27FC236}">
                <a16:creationId xmlns:a16="http://schemas.microsoft.com/office/drawing/2014/main" id="{ECEF91BF-25D8-48A9-9982-F20F9D36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初始候选 17 只，经数据可用性确认后保留 15 只。</a:t>
            </a:r>
          </a:p>
        </p:txBody>
      </p:sp>
    </p:spTree>
    <p:extLst>
      <p:ext uri="{BB962C8B-B14F-4D97-AF65-F5344CB8AC3E}">
        <p14:creationId xmlns:p14="http://schemas.microsoft.com/office/powerpoint/2010/main" val="1380325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4">
            <a:extLst xmlns:a="http://schemas.openxmlformats.org/drawingml/2006/main">
              <a:ext uri="{FF2B5EF4-FFF2-40B4-BE49-F238E27FC236}">
                <a16:creationId xmlns:a16="http://schemas.microsoft.com/office/drawing/2014/main" id="{59877294-DD23-4914-BC3A-58B6AD9C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F7DF524D-11CB-4F0D-B26B-9141B977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03  因子筛选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F51BC387-CE21-4670-AA4A-1C22177A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21 个候选因子经过四道闸门，只留下 10 个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56816327-299D-432C-A46F-7B99C961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筛选顺序从统计显著性走到经济可解释性，再处理冗余。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3B4FB14D-9C62-4876-84BB-A5407268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F156EC8B-2740-4427-A406-A1451A0F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4">
            <a:extLst xmlns:a="http://schemas.openxmlformats.org/drawingml/2006/main">
              <a:ext uri="{FF2B5EF4-FFF2-40B4-BE49-F238E27FC236}">
                <a16:creationId xmlns:a16="http://schemas.microsoft.com/office/drawing/2014/main" id="{723661FE-34D8-429A-AC0B-D78A941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3A780395-3622-427F-9469-49996BE8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14288">
            <a:solidFill>
              <a:srgbClr val="2874D0"/>
            </a:solidFill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5DF8F5A4-78B4-4EF1-B16B-15F2CA3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003750B-4632-4E6F-8CB7-7D9C8739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431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WLS 回归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102076F-3CE6-46D8-A505-AD24ADB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140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|平均 t| ≥ 2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9C11A543-F901-434D-8540-A0C4E366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2F6F7"/>
          </a:solidFill>
          <a:ln xmlns:a="http://schemas.openxmlformats.org/drawingml/2006/main" w="14288">
            <a:solidFill>
              <a:srgbClr val="16B9C4"/>
            </a:solidFill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840E9940-8E93-4DC5-828C-63CAB95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7DB5B16-26D6-4E34-A7DD-CAF0329C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431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Rank IC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EB7F691-7680-4902-B93A-772C38B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05100"/>
            <a:ext cx="140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|平均 IC| ≥ 0.03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DFA0257F-50B8-4D6D-8A5D-ADB37B31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E9A11B"/>
            </a:solidFill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F7322CCA-E8AF-45DC-B454-67684BC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0CBA99E-AEC6-462B-9655-0D98DA9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五分位回测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7456F1B-AE67-45A3-A1C2-BC83EF9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140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超额收益 ≥ 4%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393B09FE-AE0D-442D-9EB7-C8B4FC3C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4288">
            <a:solidFill>
              <a:srgbClr val="C94E4E"/>
            </a:solidFill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E5DF2D3D-24B8-47F4-9ECC-FB7559E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336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C94E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4E4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FE6D14DF-63A4-4B7B-AB5E-5505AB0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冗余剔除</a:t>
            </a:r>
          </a:p>
        </p:txBody>
      </p:sp>
      <p:sp>
        <p:nvSpPr>
          <p:cNvPr id="23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8701050-C492-409F-A1DC-87E78997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40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相关系数阈值 0.6</a:t>
            </a:r>
          </a:p>
        </p:txBody>
      </p: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76550" y="2847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86400" y="2847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96250" y="2847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sp>
        <p:nvSpPr>
          <p:cNvPr id="27" name="metric-最终入模">
            <a:extLst xmlns:a="http://schemas.openxmlformats.org/drawingml/2006/main">
              <a:ext uri="{FF2B5EF4-FFF2-40B4-BE49-F238E27FC236}">
                <a16:creationId xmlns:a16="http://schemas.microsoft.com/office/drawing/2014/main" id="{A2B018CB-7DF5-4278-9A55-FCFB9E10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28" name="metric-label-最终入模">
            <a:extLst xmlns:a="http://schemas.openxmlformats.org/drawingml/2006/main">
              <a:ext uri="{FF2B5EF4-FFF2-40B4-BE49-F238E27FC236}">
                <a16:creationId xmlns:a16="http://schemas.microsoft.com/office/drawing/2014/main" id="{F583991A-381D-49FF-BFA0-BE2D0CBD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最终入模</a:t>
            </a:r>
          </a:p>
        </p:txBody>
      </p:sp>
      <p:sp>
        <p:nvSpPr>
          <p:cNvPr id="29" name="metric-note-最终入模">
            <a:extLst xmlns:a="http://schemas.openxmlformats.org/drawingml/2006/main">
              <a:ext uri="{FF2B5EF4-FFF2-40B4-BE49-F238E27FC236}">
                <a16:creationId xmlns:a16="http://schemas.microsoft.com/office/drawing/2014/main" id="{F748A03D-2661-4FDA-97A4-DF4D996A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不是因子越多越好，而是每个因子都要通过独立检验。</a:t>
            </a:r>
          </a:p>
        </p:txBody>
      </p:sp>
      <p:sp>
        <p:nvSpPr>
          <p:cNvPr id="30" name="factor-divider">
            <a:extLst xmlns:a="http://schemas.openxmlformats.org/drawingml/2006/main">
              <a:ext uri="{FF2B5EF4-FFF2-40B4-BE49-F238E27FC236}">
                <a16:creationId xmlns:a16="http://schemas.microsoft.com/office/drawing/2014/main" id="{39B7E230-294D-4F7C-BE63-C0A5CB30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433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1" name="factor-list-title">
            <a:extLst xmlns:a="http://schemas.openxmlformats.org/drawingml/2006/main">
              <a:ext uri="{FF2B5EF4-FFF2-40B4-BE49-F238E27FC236}">
                <a16:creationId xmlns:a16="http://schemas.microsoft.com/office/drawing/2014/main" id="{7987385D-D52A-47FC-A8CD-B21FC07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最终因子</a:t>
            </a:r>
          </a:p>
        </p:txBody>
      </p:sp>
      <p:sp>
        <p:nvSpPr>
          <p:cNvPr id="32" name="factor-list-a">
            <a:extLst xmlns:a="http://schemas.openxmlformats.org/drawingml/2006/main">
              <a:ext uri="{FF2B5EF4-FFF2-40B4-BE49-F238E27FC236}">
                <a16:creationId xmlns:a16="http://schemas.microsoft.com/office/drawing/2014/main" id="{E4394876-BCF9-4C4A-9CFA-F8F9998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PE   PB   PS   yoy_OI   yoy_NI</a:t>
            </a:r>
          </a:p>
        </p:txBody>
      </p:sp>
      <p:sp>
        <p:nvSpPr>
          <p:cNvPr id="33" name="factor-list-b">
            <a:extLst xmlns:a="http://schemas.openxmlformats.org/drawingml/2006/main">
              <a:ext uri="{FF2B5EF4-FFF2-40B4-BE49-F238E27FC236}">
                <a16:creationId xmlns:a16="http://schemas.microsoft.com/office/drawing/2014/main" id="{195CA8E4-0945-4DA0-8479-D8C76D4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ROE   毛利率   5 日换手率   REVS5   RSTR12</a:t>
            </a:r>
          </a:p>
        </p:txBody>
      </p:sp>
      <p:sp>
        <p:nvSpPr>
          <p:cNvPr id="34" name="factor-find">
            <a:extLst xmlns:a="http://schemas.openxmlformats.org/drawingml/2006/main">
              <a:ext uri="{FF2B5EF4-FFF2-40B4-BE49-F238E27FC236}">
                <a16:creationId xmlns:a16="http://schemas.microsoft.com/office/drawing/2014/main" id="{A3F951B2-AC45-499F-A480-EBA91911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72390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actor-find-text">
            <a:extLst xmlns:a="http://schemas.openxmlformats.org/drawingml/2006/main">
              <a:ext uri="{FF2B5EF4-FFF2-40B4-BE49-F238E27FC236}">
                <a16:creationId xmlns:a16="http://schemas.microsoft.com/office/drawing/2014/main" id="{D271632D-CFAC-41D7-8E2D-6030866C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多数因子呈负向作用：低估值、低换手和动量反转更占优。</a:t>
            </a:r>
          </a:p>
        </p:txBody>
      </p:sp>
    </p:spTree>
    <p:extLst>
      <p:ext uri="{BB962C8B-B14F-4D97-AF65-F5344CB8AC3E}">
        <p14:creationId xmlns:p14="http://schemas.microsoft.com/office/powerpoint/2010/main" val="1023097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5">
            <a:extLst xmlns:a="http://schemas.openxmlformats.org/drawingml/2006/main">
              <a:ext uri="{FF2B5EF4-FFF2-40B4-BE49-F238E27FC236}">
                <a16:creationId xmlns:a16="http://schemas.microsoft.com/office/drawing/2014/main" id="{AC770EBD-DF91-4043-B0CF-3C1C09BF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12F15E21-10AB-4BBC-A746-A0BF39C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04  模型构建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A1072211-712D-40E6-945D-D00AB572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模型每月只做一次决定，复杂度被刻意压低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12B112CD-FE4F-4A97-80D4-09A156A0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Ridge + Top 5 等权：用约束换取小样本下的稳定性。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F56B407-A6EA-4DAA-B6FA-FD9C9E50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FFB94866-BFDB-4FE4-81C8-E0938FD6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12F1EC96-200C-4F28-BD82-77EBAA7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4AA964D7-FC19-44EE-A8DD-7A81C86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14288">
            <a:solidFill>
              <a:srgbClr val="2874D0"/>
            </a:solidFill>
            <a:prstDash val="solid"/>
          </a:ln>
        </p:spPr>
      </p:sp>
      <p:sp>
        <p:nvSpPr>
          <p:cNvPr id="9" name="step-num-1">
            <a:extLst xmlns:a="http://schemas.openxmlformats.org/drawingml/2006/main">
              <a:ext uri="{FF2B5EF4-FFF2-40B4-BE49-F238E27FC236}">
                <a16:creationId xmlns:a16="http://schemas.microsoft.com/office/drawing/2014/main" id="{E33002C1-ECF6-4941-9459-DDFD967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0E48540-23A5-4974-914C-7E7F992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月末读取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2C8A262-DF4A-4375-B848-7EA2354A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398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15 只股票的 10 个因子值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3871ADB9-A097-4C5D-B542-DFC4CD55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2F6F7"/>
          </a:solidFill>
          <a:ln xmlns:a="http://schemas.openxmlformats.org/drawingml/2006/main" w="14288">
            <a:solidFill>
              <a:srgbClr val="2874D0"/>
            </a:solidFill>
            <a:prstDash val="solid"/>
          </a:ln>
        </p:spPr>
      </p:sp>
      <p:sp>
        <p:nvSpPr>
          <p:cNvPr id="13" name="step-num-2">
            <a:extLst xmlns:a="http://schemas.openxmlformats.org/drawingml/2006/main">
              <a:ext uri="{FF2B5EF4-FFF2-40B4-BE49-F238E27FC236}">
                <a16:creationId xmlns:a16="http://schemas.microsoft.com/office/drawing/2014/main" id="{0EB1AF24-4EBE-4C51-986E-9F40A61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DE6EFBD5-D0FA-4AEE-B3DB-824019D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估计载荷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068236E-9ECC-4379-A8C4-90D2732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398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过去 6 个月因子收益均值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3A9E7E53-0407-463D-ADA6-1D527E8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14288">
            <a:solidFill>
              <a:srgbClr val="2874D0"/>
            </a:solidFill>
            <a:prstDash val="solid"/>
          </a:ln>
        </p:spPr>
      </p:sp>
      <p:sp>
        <p:nvSpPr>
          <p:cNvPr id="17" name="step-num-3">
            <a:extLst xmlns:a="http://schemas.openxmlformats.org/drawingml/2006/main">
              <a:ext uri="{FF2B5EF4-FFF2-40B4-BE49-F238E27FC236}">
                <a16:creationId xmlns:a16="http://schemas.microsoft.com/office/drawing/2014/main" id="{41115BCD-68D9-4C26-81DE-93EBC078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78550A82-0F57-491C-8077-B1CD5FE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预期收益排序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A0C45CC-8A4D-42A7-A0F5-666CE616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398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计算下一期预期收益率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F1684214-5CE4-4B80-8E21-79E47B6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2F6F7"/>
          </a:solidFill>
          <a:ln xmlns:a="http://schemas.openxmlformats.org/drawingml/2006/main" w="14288">
            <a:solidFill>
              <a:srgbClr val="2874D0"/>
            </a:solidFill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5F7516E6-82F6-4B01-9566-2098C326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5055FEEB-DF30-4448-8088-E8DEF5D9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Top 5 等权</a:t>
            </a:r>
          </a:p>
        </p:txBody>
      </p:sp>
      <p:sp>
        <p:nvSpPr>
          <p:cNvPr id="23" name="step-body-4">
            <a:extLst xmlns:a="http://schemas.openxmlformats.org/drawingml/2006/main">
              <a:ext uri="{FF2B5EF4-FFF2-40B4-BE49-F238E27FC236}">
                <a16:creationId xmlns:a16="http://schemas.microsoft.com/office/drawing/2014/main" id="{D870EB40-4131-433C-B740-F21FC2FC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398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扣除交易费用后持有一月</a:t>
            </a:r>
          </a:p>
        </p:txBody>
      </p:sp>
      <p:cxnSp>
        <p:nvCxnSpPr>
          <p:cNvPr id="66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67050" y="27622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67050" y="3714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067050" y="46672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B0BC"/>
            </a:solidFill>
            <a:prstDash val="solid"/>
            <a:tailEnd type="arrow" w="sm" len="sm"/>
          </a:ln>
        </p:spPr>
      </p:cxnSp>
      <p:sp>
        <p:nvSpPr>
          <p:cNvPr id="27" name="formula-box">
            <a:extLst xmlns:a="http://schemas.openxmlformats.org/drawingml/2006/main">
              <a:ext uri="{FF2B5EF4-FFF2-40B4-BE49-F238E27FC236}">
                <a16:creationId xmlns:a16="http://schemas.microsoft.com/office/drawing/2014/main" id="{FDEF9C5F-8018-446D-B8A4-6FB57D0F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429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D3E92F8-45E6-41BA-B208-C07CE5A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FB0BD"/>
                </a:solidFill>
                <a:latin typeface="Microsoft YaHei"/>
                <a:ea typeface="Microsoft YaHei"/>
                <a:cs typeface="Microsoft YaHei"/>
              </a:rPr>
              <a:t>核心表达式</a:t>
            </a:r>
          </a:p>
        </p:txBody>
      </p:sp>
      <p:sp>
        <p:nvSpPr>
          <p:cNvPr id="29" name="formula">
            <a:extLst xmlns:a="http://schemas.openxmlformats.org/drawingml/2006/main">
              <a:ext uri="{FF2B5EF4-FFF2-40B4-BE49-F238E27FC236}">
                <a16:creationId xmlns:a16="http://schemas.microsoft.com/office/drawing/2014/main" id="{F4E13C62-1C20-4FCA-9010-1DFE81A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r̂ᵢ,ₜ₊₁ = Σₖ₌₁¹⁰ β̂ₖ,ₜ₊₁ · Fᵢ,ₖ,ₜ</a:t>
            </a:r>
          </a:p>
        </p:txBody>
      </p:sp>
      <p:sp>
        <p:nvSpPr>
          <p:cNvPr id="30" name="params-title">
            <a:extLst xmlns:a="http://schemas.openxmlformats.org/drawingml/2006/main">
              <a:ext uri="{FF2B5EF4-FFF2-40B4-BE49-F238E27FC236}">
                <a16:creationId xmlns:a16="http://schemas.microsoft.com/office/drawing/2014/main" id="{87A5C7E7-E616-4821-9916-52D1AD3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31" name="param-label-0">
            <a:extLst xmlns:a="http://schemas.openxmlformats.org/drawingml/2006/main">
              <a:ext uri="{FF2B5EF4-FFF2-40B4-BE49-F238E27FC236}">
                <a16:creationId xmlns:a16="http://schemas.microsoft.com/office/drawing/2014/main" id="{05DF7F10-1392-4B74-ACB4-EE666E0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回测区间</a:t>
            </a:r>
          </a:p>
        </p:txBody>
      </p:sp>
      <p:sp>
        <p:nvSpPr>
          <p:cNvPr id="32" name="param-value-0">
            <a:extLst xmlns:a="http://schemas.openxmlformats.org/drawingml/2006/main">
              <a:ext uri="{FF2B5EF4-FFF2-40B4-BE49-F238E27FC236}">
                <a16:creationId xmlns:a16="http://schemas.microsoft.com/office/drawing/2014/main" id="{74950567-30E8-4583-9386-81536606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2025.01—2026.03</a:t>
            </a:r>
          </a:p>
        </p:txBody>
      </p:sp>
      <p:sp>
        <p:nvSpPr>
          <p:cNvPr id="33" name="param-label-1">
            <a:extLst xmlns:a="http://schemas.openxmlformats.org/drawingml/2006/main">
              <a:ext uri="{FF2B5EF4-FFF2-40B4-BE49-F238E27FC236}">
                <a16:creationId xmlns:a16="http://schemas.microsoft.com/office/drawing/2014/main" id="{639B508F-C848-4F65-9E0C-1303C50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持仓</a:t>
            </a:r>
          </a:p>
        </p:txBody>
      </p:sp>
      <p:sp>
        <p:nvSpPr>
          <p:cNvPr id="34" name="param-value-1">
            <a:extLst xmlns:a="http://schemas.openxmlformats.org/drawingml/2006/main">
              <a:ext uri="{FF2B5EF4-FFF2-40B4-BE49-F238E27FC236}">
                <a16:creationId xmlns:a16="http://schemas.microsoft.com/office/drawing/2014/main" id="{E36B38D8-DCAB-4765-805A-6A9C8204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Top 5 等权</a:t>
            </a:r>
          </a:p>
        </p:txBody>
      </p:sp>
      <p:sp>
        <p:nvSpPr>
          <p:cNvPr id="35" name="param-label-2">
            <a:extLst xmlns:a="http://schemas.openxmlformats.org/drawingml/2006/main">
              <a:ext uri="{FF2B5EF4-FFF2-40B4-BE49-F238E27FC236}">
                <a16:creationId xmlns:a16="http://schemas.microsoft.com/office/drawing/2014/main" id="{B1E75195-1BAD-4213-AA85-8CE93E81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初始资金</a:t>
            </a:r>
          </a:p>
        </p:txBody>
      </p:sp>
      <p:sp>
        <p:nvSpPr>
          <p:cNvPr id="36" name="param-value-2">
            <a:extLst xmlns:a="http://schemas.openxmlformats.org/drawingml/2006/main">
              <a:ext uri="{FF2B5EF4-FFF2-40B4-BE49-F238E27FC236}">
                <a16:creationId xmlns:a16="http://schemas.microsoft.com/office/drawing/2014/main" id="{D220C745-62CB-4FA7-864F-89F1CBEC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14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100 万元</a:t>
            </a:r>
          </a:p>
        </p:txBody>
      </p:sp>
      <p:sp>
        <p:nvSpPr>
          <p:cNvPr id="37" name="param-label-3">
            <a:extLst xmlns:a="http://schemas.openxmlformats.org/drawingml/2006/main">
              <a:ext uri="{FF2B5EF4-FFF2-40B4-BE49-F238E27FC236}">
                <a16:creationId xmlns:a16="http://schemas.microsoft.com/office/drawing/2014/main" id="{6FE55F53-5919-4AD2-A4E9-59025D7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38" name="param-value-3">
            <a:extLst xmlns:a="http://schemas.openxmlformats.org/drawingml/2006/main">
              <a:ext uri="{FF2B5EF4-FFF2-40B4-BE49-F238E27FC236}">
                <a16:creationId xmlns:a16="http://schemas.microsoft.com/office/drawing/2014/main" id="{65FF9CE7-F165-4BB8-9551-119DCD7C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14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沪深 300</a:t>
            </a:r>
          </a:p>
        </p:txBody>
      </p:sp>
      <p:sp>
        <p:nvSpPr>
          <p:cNvPr id="39" name="param-label-4">
            <a:extLst xmlns:a="http://schemas.openxmlformats.org/drawingml/2006/main">
              <a:ext uri="{FF2B5EF4-FFF2-40B4-BE49-F238E27FC236}">
                <a16:creationId xmlns:a16="http://schemas.microsoft.com/office/drawing/2014/main" id="{218E3B50-D2D3-46D9-B175-A5F736E7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40" name="param-value-4">
            <a:extLst xmlns:a="http://schemas.openxmlformats.org/drawingml/2006/main">
              <a:ext uri="{FF2B5EF4-FFF2-40B4-BE49-F238E27FC236}">
                <a16:creationId xmlns:a16="http://schemas.microsoft.com/office/drawing/2014/main" id="{849CB970-3459-4AB0-9681-F5DEE225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67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Ridge, α = 1.0</a:t>
            </a:r>
          </a:p>
        </p:txBody>
      </p:sp>
      <p:sp>
        <p:nvSpPr>
          <p:cNvPr id="41" name="param-label-5">
            <a:extLst xmlns:a="http://schemas.openxmlformats.org/drawingml/2006/main">
              <a:ext uri="{FF2B5EF4-FFF2-40B4-BE49-F238E27FC236}">
                <a16:creationId xmlns:a16="http://schemas.microsoft.com/office/drawing/2014/main" id="{7E238103-ECDB-4960-8C29-9E09BDD8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42" name="param-value-5">
            <a:extLst xmlns:a="http://schemas.openxmlformats.org/drawingml/2006/main">
              <a:ext uri="{FF2B5EF4-FFF2-40B4-BE49-F238E27FC236}">
                <a16:creationId xmlns:a16="http://schemas.microsoft.com/office/drawing/2014/main" id="{8F9984B5-4EA1-468E-97F4-7288DD42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67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买万三；卖万三 + 千一印花税</a:t>
            </a:r>
          </a:p>
        </p:txBody>
      </p:sp>
    </p:spTree>
    <p:extLst>
      <p:ext uri="{BB962C8B-B14F-4D97-AF65-F5344CB8AC3E}">
        <p14:creationId xmlns:p14="http://schemas.microsoft.com/office/powerpoint/2010/main" val="984815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6">
            <a:extLst xmlns:a="http://schemas.openxmlformats.org/drawingml/2006/main">
              <a:ext uri="{FF2B5EF4-FFF2-40B4-BE49-F238E27FC236}">
                <a16:creationId xmlns:a16="http://schemas.microsoft.com/office/drawing/2014/main" id="{E9294F10-1CED-401D-B0F3-C793734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7F77AF53-08A6-45D7-A13D-BD8B721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05  回测结果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3DCD7933-6A37-4B62-944C-2D6894F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策略年化 96.7%，但更值得关注的是风险效率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6D2701F0-E7A8-45DD-8127-145A8B4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净值在 2025 年 8 月后显著拉开与沪深 300 的距离。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447F7908-518D-4942-A0E3-4FDAE3F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37C6D5DB-F40A-4CBF-B3D9-FC2D558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6">
            <a:extLst xmlns:a="http://schemas.openxmlformats.org/drawingml/2006/main">
              <a:ext uri="{FF2B5EF4-FFF2-40B4-BE49-F238E27FC236}">
                <a16:creationId xmlns:a16="http://schemas.microsoft.com/office/drawing/2014/main" id="{8D6F817D-806D-460E-B55D-F82AFE76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sp>
        <p:nvSpPr>
          <p:cNvPr id="8" name="metric-策略年化收益">
            <a:extLst xmlns:a="http://schemas.openxmlformats.org/drawingml/2006/main">
              <a:ext uri="{FF2B5EF4-FFF2-40B4-BE49-F238E27FC236}">
                <a16:creationId xmlns:a16="http://schemas.microsoft.com/office/drawing/2014/main" id="{3797D615-EEE5-402E-9A68-E67A397B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96.7%</a:t>
            </a:r>
          </a:p>
        </p:txBody>
      </p:sp>
      <p:sp>
        <p:nvSpPr>
          <p:cNvPr id="9" name="metric-label-策略年化收益">
            <a:extLst xmlns:a="http://schemas.openxmlformats.org/drawingml/2006/main">
              <a:ext uri="{FF2B5EF4-FFF2-40B4-BE49-F238E27FC236}">
                <a16:creationId xmlns:a16="http://schemas.microsoft.com/office/drawing/2014/main" id="{A9920AB3-2F2F-407D-9AC4-BF8D8C1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策略年化收益</a:t>
            </a:r>
          </a:p>
        </p:txBody>
      </p:sp>
      <p:sp>
        <p:nvSpPr>
          <p:cNvPr id="10" name="metric-note-策略年化收益">
            <a:extLst xmlns:a="http://schemas.openxmlformats.org/drawingml/2006/main">
              <a:ext uri="{FF2B5EF4-FFF2-40B4-BE49-F238E27FC236}">
                <a16:creationId xmlns:a16="http://schemas.microsoft.com/office/drawing/2014/main" id="{22983B9C-DB00-4ED4-86F4-EAFF9E9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显著高于基准</a:t>
            </a:r>
          </a:p>
        </p:txBody>
      </p:sp>
      <p:sp>
        <p:nvSpPr>
          <p:cNvPr id="11" name="metric-夏普比率">
            <a:extLst xmlns:a="http://schemas.openxmlformats.org/drawingml/2006/main">
              <a:ext uri="{FF2B5EF4-FFF2-40B4-BE49-F238E27FC236}">
                <a16:creationId xmlns:a16="http://schemas.microsoft.com/office/drawing/2014/main" id="{3B47B00F-B875-4B06-ADBD-11375DD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2E9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E9B62"/>
                </a:solidFill>
                <a:latin typeface="Microsoft YaHei"/>
                <a:ea typeface="Microsoft YaHei"/>
                <a:cs typeface="Microsoft YaHei"/>
              </a:rPr>
              <a:t>1.70</a:t>
            </a:r>
          </a:p>
        </p:txBody>
      </p:sp>
      <p:sp>
        <p:nvSpPr>
          <p:cNvPr id="12" name="metric-label-夏普比率">
            <a:extLst xmlns:a="http://schemas.openxmlformats.org/drawingml/2006/main">
              <a:ext uri="{FF2B5EF4-FFF2-40B4-BE49-F238E27FC236}">
                <a16:creationId xmlns:a16="http://schemas.microsoft.com/office/drawing/2014/main" id="{188E8BAC-F7D7-43A4-BBBB-4D5AAB23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夏普比率</a:t>
            </a:r>
          </a:p>
        </p:txBody>
      </p:sp>
      <p:sp>
        <p:nvSpPr>
          <p:cNvPr id="13" name="metric-note-夏普比率">
            <a:extLst xmlns:a="http://schemas.openxmlformats.org/drawingml/2006/main">
              <a:ext uri="{FF2B5EF4-FFF2-40B4-BE49-F238E27FC236}">
                <a16:creationId xmlns:a16="http://schemas.microsoft.com/office/drawing/2014/main" id="{89EBE54B-2BF3-4BC7-BCC1-0DF58ACC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收益风险比良好</a:t>
            </a:r>
          </a:p>
        </p:txBody>
      </p:sp>
      <p:sp>
        <p:nvSpPr>
          <p:cNvPr id="14" name="result-small">
            <a:extLst xmlns:a="http://schemas.openxmlformats.org/drawingml/2006/main">
              <a:ext uri="{FF2B5EF4-FFF2-40B4-BE49-F238E27FC236}">
                <a16:creationId xmlns:a16="http://schemas.microsoft.com/office/drawing/2014/main" id="{21B4A91C-071C-4884-909A-2553272A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超额年化  81.5%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最大回撤  12.5%</a:t>
            </a:r>
          </a:p>
        </p:txBody>
      </p:sp>
      <p:sp>
        <p:nvSpPr>
          <p:cNvPr id="15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A27FDC1C-176F-4EB4-B30E-F6289AD2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a7d4435d64997"/>
          <a:stretch xmlns:a="http://schemas.openxmlformats.org/drawingml/2006/main"/>
        </p:blipFill>
        <p:spPr>
          <a:xfrm xmlns:a="http://schemas.openxmlformats.org/drawingml/2006/main">
            <a:off x="4000500" y="2297657"/>
            <a:ext cx="7524750" cy="3167561"/>
          </a:xfrm>
          <a:prstGeom xmlns:a="http://schemas.openxmlformats.org/drawingml/2006/main" prst="rect">
            <a:avLst/>
          </a:prstGeom>
        </p:spPr>
      </p:pic>
      <p:sp>
        <p:nvSpPr>
          <p:cNvPr id="17" name="result-note">
            <a:extLst xmlns:a="http://schemas.openxmlformats.org/drawingml/2006/main">
              <a:ext uri="{FF2B5EF4-FFF2-40B4-BE49-F238E27FC236}">
                <a16:creationId xmlns:a16="http://schemas.microsoft.com/office/drawing/2014/main" id="{1F0DC74D-8140-4CAF-BD19-DAD475E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7524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ult-note-text">
            <a:extLst xmlns:a="http://schemas.openxmlformats.org/drawingml/2006/main">
              <a:ext uri="{FF2B5EF4-FFF2-40B4-BE49-F238E27FC236}">
                <a16:creationId xmlns:a16="http://schemas.microsoft.com/office/drawing/2014/main" id="{BF3865B9-B346-4E34-9D25-C4F22176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943600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解释：收益来自结构性轮动，但单月最好约 +55.1%、最差约 -11.0%，波动仍然明显。</a:t>
            </a:r>
          </a:p>
        </p:txBody>
      </p:sp>
    </p:spTree>
    <p:extLst>
      <p:ext uri="{BB962C8B-B14F-4D97-AF65-F5344CB8AC3E}">
        <p14:creationId xmlns:p14="http://schemas.microsoft.com/office/powerpoint/2010/main" val="242651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7">
            <a:extLst xmlns:a="http://schemas.openxmlformats.org/drawingml/2006/main">
              <a:ext uri="{FF2B5EF4-FFF2-40B4-BE49-F238E27FC236}">
                <a16:creationId xmlns:a16="http://schemas.microsoft.com/office/drawing/2014/main" id="{7819DDE9-BE94-4D9C-A859-10631ED4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6F5D3B7B-8526-4891-988B-C65B7F7E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06  稳健性验证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D54FA613-DCC6-4DEF-92B7-16F3DAB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33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P96.1 说明模型有选股能力，但赢家集中风险没有消失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0B3B5B21-C37F-4E1C-93DF-6538369D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随机基准提供正面证据；留一法同时暴露了真实边界。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622F8BA8-580C-4CFF-A711-FBCB7438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02E43A21-7CBA-4561-A04F-284B382D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footer-7">
            <a:extLst xmlns:a="http://schemas.openxmlformats.org/drawingml/2006/main">
              <a:ext uri="{FF2B5EF4-FFF2-40B4-BE49-F238E27FC236}">
                <a16:creationId xmlns:a16="http://schemas.microsoft.com/office/drawing/2014/main" id="{B4305A24-615A-4C81-992C-FE497E1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91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芯片算力行业交易策略 · 重构样稿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22d7c000045c1"/>
          <a:stretch xmlns:a="http://schemas.openxmlformats.org/drawingml/2006/main"/>
        </p:blipFill>
        <p:spPr>
          <a:xfrm xmlns:a="http://schemas.openxmlformats.org/drawingml/2006/main">
            <a:off x="619125" y="2043621"/>
            <a:ext cx="5810250" cy="3370832"/>
          </a:xfrm>
          <a:prstGeom xmlns:a="http://schemas.openxmlformats.org/drawingml/2006/main" prst="rect">
            <a:avLst/>
          </a:prstGeom>
        </p:spPr>
      </p:pic>
      <p:sp>
        <p:nvSpPr>
          <p:cNvPr id="9" name="alpha-caption">
            <a:extLst xmlns:a="http://schemas.openxmlformats.org/drawingml/2006/main">
              <a:ext uri="{FF2B5EF4-FFF2-40B4-BE49-F238E27FC236}">
                <a16:creationId xmlns:a16="http://schemas.microsoft.com/office/drawing/2014/main" id="{ECDDA617-7A28-4BF4-9987-4986CFC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1000 次随机 5 选股年化收益分布</a:t>
            </a:r>
          </a:p>
        </p:txBody>
      </p:sp>
      <p:sp>
        <p:nvSpPr>
          <p:cNvPr id="10" name="alpha-percentile">
            <a:extLst xmlns:a="http://schemas.openxmlformats.org/drawingml/2006/main">
              <a:ext uri="{FF2B5EF4-FFF2-40B4-BE49-F238E27FC236}">
                <a16:creationId xmlns:a16="http://schemas.microsoft.com/office/drawing/2014/main" id="{170E4F37-F69E-4194-AD93-109198A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P96.1</a:t>
            </a:r>
          </a:p>
        </p:txBody>
      </p:sp>
      <p:sp>
        <p:nvSpPr>
          <p:cNvPr id="11" name="alpha-percentile-label">
            <a:extLst xmlns:a="http://schemas.openxmlformats.org/drawingml/2006/main">
              <a:ext uri="{FF2B5EF4-FFF2-40B4-BE49-F238E27FC236}">
                <a16:creationId xmlns:a16="http://schemas.microsoft.com/office/drawing/2014/main" id="{600A2D3B-2483-46CD-8CE5-E82F722B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因子策略位于随机分布的高分位</a:t>
            </a:r>
          </a:p>
        </p:txBody>
      </p:sp>
      <p:sp>
        <p:nvSpPr>
          <p:cNvPr id="12" name="alpha-rule">
            <a:extLst xmlns:a="http://schemas.openxmlformats.org/drawingml/2006/main">
              <a:ext uri="{FF2B5EF4-FFF2-40B4-BE49-F238E27FC236}">
                <a16:creationId xmlns:a16="http://schemas.microsoft.com/office/drawing/2014/main" id="{9A4BED1D-69A1-475E-8CD4-7E4F7E9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alpha-head-a">
            <a:extLst xmlns:a="http://schemas.openxmlformats.org/drawingml/2006/main">
              <a:ext uri="{FF2B5EF4-FFF2-40B4-BE49-F238E27FC236}">
                <a16:creationId xmlns:a16="http://schemas.microsoft.com/office/drawing/2014/main" id="{CC13C3AC-ACE1-42E9-8BCC-BA29F120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基准</a:t>
            </a:r>
          </a:p>
        </p:txBody>
      </p:sp>
      <p:sp>
        <p:nvSpPr>
          <p:cNvPr id="14" name="alpha-head-b">
            <a:extLst xmlns:a="http://schemas.openxmlformats.org/drawingml/2006/main">
              <a:ext uri="{FF2B5EF4-FFF2-40B4-BE49-F238E27FC236}">
                <a16:creationId xmlns:a16="http://schemas.microsoft.com/office/drawing/2014/main" id="{8BE2D87C-C508-446B-B75F-0649799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年化</a:t>
            </a:r>
          </a:p>
        </p:txBody>
      </p:sp>
      <p:sp>
        <p:nvSpPr>
          <p:cNvPr id="15" name="alpha-head-c">
            <a:extLst xmlns:a="http://schemas.openxmlformats.org/drawingml/2006/main">
              <a:ext uri="{FF2B5EF4-FFF2-40B4-BE49-F238E27FC236}">
                <a16:creationId xmlns:a16="http://schemas.microsoft.com/office/drawing/2014/main" id="{7A88A5F6-2105-43A3-8137-8E3B1E1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00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夏普</a:t>
            </a:r>
          </a:p>
        </p:txBody>
      </p:sp>
      <p:sp>
        <p:nvSpPr>
          <p:cNvPr id="16" name="alpha-row-a-0">
            <a:extLst xmlns:a="http://schemas.openxmlformats.org/drawingml/2006/main">
              <a:ext uri="{FF2B5EF4-FFF2-40B4-BE49-F238E27FC236}">
                <a16:creationId xmlns:a16="http://schemas.microsoft.com/office/drawing/2014/main" id="{983DACB9-DA66-4B7E-8173-F35BEECB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131F"/>
                </a:solidFill>
                <a:latin typeface="Microsoft YaHei"/>
                <a:ea typeface="Microsoft YaHei"/>
                <a:cs typeface="Microsoft YaHei"/>
              </a:rPr>
              <a:t>因子策略</a:t>
            </a:r>
          </a:p>
        </p:txBody>
      </p:sp>
      <p:sp>
        <p:nvSpPr>
          <p:cNvPr id="17" name="alpha-row-b-0">
            <a:extLst xmlns:a="http://schemas.openxmlformats.org/drawingml/2006/main">
              <a:ext uri="{FF2B5EF4-FFF2-40B4-BE49-F238E27FC236}">
                <a16:creationId xmlns:a16="http://schemas.microsoft.com/office/drawing/2014/main" id="{041BA886-11A2-4C44-BAF3-C7B19AE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4335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74D0"/>
                </a:solidFill>
                <a:latin typeface="Microsoft YaHei"/>
                <a:ea typeface="Microsoft YaHei"/>
                <a:cs typeface="Microsoft YaHei"/>
              </a:rPr>
              <a:t>96.7%</a:t>
            </a:r>
          </a:p>
        </p:txBody>
      </p:sp>
      <p:sp>
        <p:nvSpPr>
          <p:cNvPr id="18" name="alpha-row-c-0">
            <a:extLst xmlns:a="http://schemas.openxmlformats.org/drawingml/2006/main">
              <a:ext uri="{FF2B5EF4-FFF2-40B4-BE49-F238E27FC236}">
                <a16:creationId xmlns:a16="http://schemas.microsoft.com/office/drawing/2014/main" id="{EC1F42DE-F7CD-446D-9594-E609AF73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43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1.70</a:t>
            </a:r>
          </a:p>
        </p:txBody>
      </p:sp>
      <p:sp>
        <p:nvSpPr>
          <p:cNvPr id="19" name="alpha-row-a-1">
            <a:extLst xmlns:a="http://schemas.openxmlformats.org/drawingml/2006/main">
              <a:ext uri="{FF2B5EF4-FFF2-40B4-BE49-F238E27FC236}">
                <a16:creationId xmlns:a16="http://schemas.microsoft.com/office/drawing/2014/main" id="{2366E878-EC21-487D-BBEA-69B8A84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行业等权</a:t>
            </a:r>
          </a:p>
        </p:txBody>
      </p:sp>
      <p:sp>
        <p:nvSpPr>
          <p:cNvPr id="20" name="alpha-row-b-1">
            <a:extLst xmlns:a="http://schemas.openxmlformats.org/drawingml/2006/main">
              <a:ext uri="{FF2B5EF4-FFF2-40B4-BE49-F238E27FC236}">
                <a16:creationId xmlns:a16="http://schemas.microsoft.com/office/drawing/2014/main" id="{2BDA2259-F429-41A1-80A3-CD9C615E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54.0%</a:t>
            </a:r>
          </a:p>
        </p:txBody>
      </p:sp>
      <p:sp>
        <p:nvSpPr>
          <p:cNvPr id="21" name="alpha-row-c-1">
            <a:extLst xmlns:a="http://schemas.openxmlformats.org/drawingml/2006/main">
              <a:ext uri="{FF2B5EF4-FFF2-40B4-BE49-F238E27FC236}">
                <a16:creationId xmlns:a16="http://schemas.microsoft.com/office/drawing/2014/main" id="{1F666FB4-A04C-41D8-90AF-49CA49F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1.28</a:t>
            </a:r>
          </a:p>
        </p:txBody>
      </p:sp>
      <p:sp>
        <p:nvSpPr>
          <p:cNvPr id="22" name="alpha-row-a-2">
            <a:extLst xmlns:a="http://schemas.openxmlformats.org/drawingml/2006/main">
              <a:ext uri="{FF2B5EF4-FFF2-40B4-BE49-F238E27FC236}">
                <a16:creationId xmlns:a16="http://schemas.microsoft.com/office/drawing/2014/main" id="{C3643F97-EA94-416B-BD9F-E4D256A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随机中位</a:t>
            </a:r>
          </a:p>
        </p:txBody>
      </p:sp>
      <p:sp>
        <p:nvSpPr>
          <p:cNvPr id="23" name="alpha-row-b-2">
            <a:extLst xmlns:a="http://schemas.openxmlformats.org/drawingml/2006/main">
              <a:ext uri="{FF2B5EF4-FFF2-40B4-BE49-F238E27FC236}">
                <a16:creationId xmlns:a16="http://schemas.microsoft.com/office/drawing/2014/main" id="{3DEB5F49-FD63-4B4E-BA6F-A5E2AA82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50.2%</a:t>
            </a:r>
          </a:p>
        </p:txBody>
      </p:sp>
      <p:sp>
        <p:nvSpPr>
          <p:cNvPr id="24" name="alpha-row-c-2">
            <a:extLst xmlns:a="http://schemas.openxmlformats.org/drawingml/2006/main">
              <a:ext uri="{FF2B5EF4-FFF2-40B4-BE49-F238E27FC236}">
                <a16:creationId xmlns:a16="http://schemas.microsoft.com/office/drawing/2014/main" id="{9DB62FCB-5CF9-47A7-A866-6B5F227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67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0.91</a:t>
            </a:r>
          </a:p>
        </p:txBody>
      </p:sp>
      <p:sp>
        <p:nvSpPr>
          <p:cNvPr id="25" name="alpha-row-a-3">
            <a:extLst xmlns:a="http://schemas.openxmlformats.org/drawingml/2006/main">
              <a:ext uri="{FF2B5EF4-FFF2-40B4-BE49-F238E27FC236}">
                <a16:creationId xmlns:a16="http://schemas.microsoft.com/office/drawing/2014/main" id="{7A34947C-4E04-40CB-9CE1-84DA9974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29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沪深 300</a:t>
            </a:r>
          </a:p>
        </p:txBody>
      </p:sp>
      <p:sp>
        <p:nvSpPr>
          <p:cNvPr id="26" name="alpha-row-b-3">
            <a:extLst xmlns:a="http://schemas.openxmlformats.org/drawingml/2006/main">
              <a:ext uri="{FF2B5EF4-FFF2-40B4-BE49-F238E27FC236}">
                <a16:creationId xmlns:a16="http://schemas.microsoft.com/office/drawing/2014/main" id="{7190A878-A935-4067-A632-8A732B5E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2920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15.2%</a:t>
            </a:r>
          </a:p>
        </p:txBody>
      </p:sp>
      <p:sp>
        <p:nvSpPr>
          <p:cNvPr id="27" name="alpha-row-c-3">
            <a:extLst xmlns:a="http://schemas.openxmlformats.org/drawingml/2006/main">
              <a:ext uri="{FF2B5EF4-FFF2-40B4-BE49-F238E27FC236}">
                <a16:creationId xmlns:a16="http://schemas.microsoft.com/office/drawing/2014/main" id="{10A68996-ACCB-4D57-A084-C490F47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29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2D"/>
                </a:solidFill>
                <a:latin typeface="Microsoft YaHei"/>
                <a:ea typeface="Microsoft YaHei"/>
                <a:cs typeface="Microsoft YaHei"/>
              </a:rPr>
              <a:t>1.11</a:t>
            </a:r>
          </a:p>
        </p:txBody>
      </p:sp>
      <p:sp>
        <p:nvSpPr>
          <p:cNvPr id="28" name="alpha-risk">
            <a:extLst xmlns:a="http://schemas.openxmlformats.org/drawingml/2006/main">
              <a:ext uri="{FF2B5EF4-FFF2-40B4-BE49-F238E27FC236}">
                <a16:creationId xmlns:a16="http://schemas.microsoft.com/office/drawing/2014/main" id="{F4362409-F3C3-4EF2-903D-571E1BE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lpha-risk-text">
            <a:extLst xmlns:a="http://schemas.openxmlformats.org/drawingml/2006/main">
              <a:ext uri="{FF2B5EF4-FFF2-40B4-BE49-F238E27FC236}">
                <a16:creationId xmlns:a16="http://schemas.microsoft.com/office/drawing/2014/main" id="{78FF9F97-6E5B-43DE-9A80-E94DCF23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817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7A5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5300"/>
                </a:solidFill>
                <a:latin typeface="Microsoft YaHei"/>
                <a:ea typeface="Microsoft YaHei"/>
                <a:cs typeface="Microsoft YaHei"/>
              </a:rPr>
              <a:t>风险边界：剔除中际旭创或芯原股份后，10 因子 Alpha 会降至约 12%—13%；策略有真实选股能力，也有赢家集中度风险。</a:t>
            </a:r>
          </a:p>
        </p:txBody>
      </p:sp>
    </p:spTree>
    <p:extLst>
      <p:ext uri="{BB962C8B-B14F-4D97-AF65-F5344CB8AC3E}">
        <p14:creationId xmlns:p14="http://schemas.microsoft.com/office/powerpoint/2010/main" val="2085225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16d7471e94205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bg">
            <a:extLst xmlns:a="http://schemas.openxmlformats.org/drawingml/2006/main">
              <a:ext uri="{FF2B5EF4-FFF2-40B4-BE49-F238E27FC236}">
                <a16:creationId xmlns:a16="http://schemas.microsoft.com/office/drawing/2014/main" id="{D8DC43B6-2F68-46A7-A125-A77206A6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208A3433-62D5-4256-9770-076B298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27A3EEAC-7936-42B0-963B-76A99334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8B32D10-C7F1-4C07-B955-4073681F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证据成立，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但边界同样清楚</a:t>
            </a:r>
          </a:p>
        </p:txBody>
      </p:sp>
      <p:sp>
        <p:nvSpPr>
          <p:cNvPr id="6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403043D0-A68F-4113-96DF-E347EC33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B9C4"/>
                </a:solidFill>
                <a:latin typeface="Microsoft YaHei"/>
                <a:ea typeface="Microsoft YaHei"/>
                <a:cs typeface="Microsoft YaHei"/>
              </a:rPr>
              <a:t>已证实</a:t>
            </a:r>
          </a:p>
        </p:txBody>
      </p:sp>
      <p:sp>
        <p:nvSpPr>
          <p:cNvPr id="7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A6BDE6EF-3205-414C-A6A1-10BAE5A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813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相对行业等权约 +42.7% 年化 Alpha，随机分布位于 P96.1。</a:t>
            </a:r>
          </a:p>
        </p:txBody>
      </p:sp>
      <p:sp>
        <p:nvSpPr>
          <p:cNvPr id="8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3A96A3B6-FFA8-47BE-96F2-4618C16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9A11B"/>
                </a:solidFill>
                <a:latin typeface="Microsoft YaHei"/>
                <a:ea typeface="Microsoft YaHei"/>
                <a:cs typeface="Microsoft YaHei"/>
              </a:rPr>
              <a:t>未解决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C0AAEF10-91BC-433F-A52B-580019E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814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样本短、股票池仅 15 只，收益对少数赢家和主题行情仍敏感。</a:t>
            </a:r>
          </a:p>
        </p:txBody>
      </p:sp>
      <p:sp>
        <p:nvSpPr>
          <p:cNvPr id="10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465E9462-837E-41E8-A3D1-451735A4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9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9B62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1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EE1D3466-3C4F-443C-8E68-EEC44806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815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把流动性、冲击成本和风格中性约束写入模型，再做滚动样本外验证。</a:t>
            </a:r>
          </a:p>
        </p:txBody>
      </p:sp>
      <p:sp>
        <p:nvSpPr>
          <p:cNvPr id="12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3F7561D1-46CE-4440-9209-E4D8A0AF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FC0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FC0CC"/>
                </a:solidFill>
                <a:latin typeface="Microsoft YaHei"/>
                <a:ea typeface="Microsoft YaHei"/>
                <a:cs typeface="Microsoft YaHei"/>
              </a:rPr>
              <a:t>这是一条值得继续验证的研究线索，而不是可直接交易的成品。</a:t>
            </a:r>
          </a:p>
        </p:txBody>
      </p:sp>
    </p:spTree>
    <p:extLst>
      <p:ext uri="{BB962C8B-B14F-4D97-AF65-F5344CB8AC3E}">
        <p14:creationId xmlns:p14="http://schemas.microsoft.com/office/powerpoint/2010/main" val="640231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2026-07-10T09:55:47.6560000Z</dcterms:created>
  <dcterms:modified xsi:type="dcterms:W3CDTF">2026-07-10T09:55:47.6560000Z</dcterms:modified>
</coreProperties>
</file>